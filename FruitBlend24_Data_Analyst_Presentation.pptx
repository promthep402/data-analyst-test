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943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96F3D"/>
                </a:solidFill>
                <a:latin typeface="Aptos"/>
              </a:rPr>
              <a:t>FRUITBLEND24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777240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800" b="1">
                <a:solidFill>
                  <a:srgbClr val="4A2B20"/>
                </a:solidFill>
                <a:latin typeface="Aptos"/>
              </a:rPr>
              <a:t>From sales data
to operating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876B5D"/>
                </a:solidFill>
                <a:latin typeface="Aptos"/>
              </a:rPr>
              <a:t>Data Analyst Case Study | Sep 2025 - Aug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143000"/>
            <a:ext cx="3017520" cy="3566160"/>
          </a:xfrm>
          <a:prstGeom prst="roundRect">
            <a:avLst/>
          </a:prstGeom>
          <a:solidFill>
            <a:srgbClr val="F7E9DE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572768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65331"/>
                </a:solidFill>
                <a:latin typeface="Aptos"/>
              </a:rPr>
              <a:t>CORE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011680"/>
            <a:ext cx="23774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4A2B20"/>
                </a:solidFill>
                <a:latin typeface="Aptos"/>
              </a:rPr>
              <a:t>Volume is healthy.
Profit is selective.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10128"/>
            <a:ext cx="22402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2B20"/>
                </a:solidFill>
                <a:latin typeface="Aptos"/>
              </a:rPr>
              <a:t>The opportunity is to scale the right SKUs and kitchens, not simply more cups.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5943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76B5D"/>
                </a:solidFill>
                <a:latin typeface="Aptos"/>
              </a:rPr>
              <a:t>Prepared from the FruitBlend24 case workbook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01 |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A2B20"/>
                </a:solidFill>
                <a:latin typeface="Aptos"/>
              </a:rPr>
              <a:t>The business has demand, but not uniform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2606040" cy="123444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048256"/>
            <a:ext cx="2240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876B5D"/>
                </a:solidFill>
                <a:latin typeface="Aptos"/>
              </a:rPr>
              <a:t>MAPPED CUPS SOLD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304288"/>
            <a:ext cx="22677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A2B20"/>
                </a:solidFill>
                <a:latin typeface="Aptos"/>
              </a:rPr>
              <a:t>619,932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61488"/>
            <a:ext cx="22677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across five core SKUs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2606040" cy="123444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048256"/>
            <a:ext cx="2240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876B5D"/>
                </a:solidFill>
                <a:latin typeface="Aptos"/>
              </a:rPr>
              <a:t>NET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304288"/>
            <a:ext cx="22677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A2B20"/>
                </a:solidFill>
                <a:latin typeface="Aptos"/>
              </a:rPr>
              <a:t>THB 22,695,760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761488"/>
            <a:ext cx="22677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after platform commissions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2606040" cy="123444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2048256"/>
            <a:ext cx="2240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876B5D"/>
                </a:solidFill>
                <a:latin typeface="Aptos"/>
              </a:rPr>
              <a:t>GROSS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304288"/>
            <a:ext cx="22677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A2B20"/>
                </a:solidFill>
                <a:latin typeface="Aptos"/>
              </a:rPr>
              <a:t>THB 476,636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761488"/>
            <a:ext cx="22677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after variable cost + overhead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874519"/>
            <a:ext cx="2606040" cy="123444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2048256"/>
            <a:ext cx="2240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876B5D"/>
                </a:solidFill>
                <a:latin typeface="Aptos"/>
              </a:rPr>
              <a:t>WASTE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2304288"/>
            <a:ext cx="22677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A2B20"/>
                </a:solidFill>
                <a:latin typeface="Aptos"/>
              </a:rPr>
              <a:t>THB 855,848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61488"/>
            <a:ext cx="22677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estimated from daily waste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1078992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01  Protect the engine. </a:t>
            </a:r>
            <a:r>
              <a:rPr sz="1600">
                <a:solidFill>
                  <a:srgbClr val="4A2B20"/>
                </a:solidFill>
                <a:latin typeface="Aptos"/>
              </a:rPr>
              <a:t>Watermelon and Pineapple drive 65.9% of cups sold.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02  Fix the drag. </a:t>
            </a:r>
            <a:r>
              <a:rPr sz="1600">
                <a:solidFill>
                  <a:srgbClr val="4A2B20"/>
                </a:solidFill>
                <a:latin typeface="Aptos"/>
              </a:rPr>
              <a:t>BKK kitchens are loss-making after fixed overhead.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03  Spend selectively. </a:t>
            </a:r>
            <a:r>
              <a:rPr sz="1600">
                <a:solidFill>
                  <a:srgbClr val="4A2B20"/>
                </a:solidFill>
                <a:latin typeface="Aptos"/>
              </a:rPr>
              <a:t>Promotions lift volume but dilute contribution margin.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FruitBlend24 | Python data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876B5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02 |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A2B20"/>
                </a:solidFill>
                <a:latin typeface="Aptos"/>
              </a:rPr>
              <a:t>Revenue recovered in spring, then softened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5296"/>
            <a:ext cx="108813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76B5D"/>
                </a:solidFill>
                <a:latin typeface="Aptos"/>
              </a:rPr>
              <a:t>Monthly net revenue and gross profit, THB millions</a:t>
            </a:r>
          </a:p>
        </p:txBody>
      </p:sp>
      <p:pic>
        <p:nvPicPr>
          <p:cNvPr id="5" name="Picture 4" descr="monthly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7543800" cy="33959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783080"/>
            <a:ext cx="3063240" cy="361188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03120"/>
            <a:ext cx="2103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514600"/>
            <a:ext cx="2331720" cy="2331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Peak revenue. </a:t>
            </a:r>
            <a:r>
              <a:rPr sz="1600">
                <a:solidFill>
                  <a:srgbClr val="4A2B20"/>
                </a:solidFill>
                <a:latin typeface="Aptos"/>
              </a:rPr>
              <a:t>Apr 2026 reached THB 2,926,898.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Break-even window. </a:t>
            </a:r>
            <a:r>
              <a:rPr sz="1600">
                <a:solidFill>
                  <a:srgbClr val="4A2B20"/>
                </a:solidFill>
                <a:latin typeface="Aptos"/>
              </a:rPr>
              <a:t>Profit turned positive from Dec through May.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Watch-out. </a:t>
            </a:r>
            <a:r>
              <a:rPr sz="1600">
                <a:solidFill>
                  <a:srgbClr val="4A2B20"/>
                </a:solidFill>
                <a:latin typeface="Aptos"/>
              </a:rPr>
              <a:t>Jun-Aug returned to negative monthly profit.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FruitBlend24 | Python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876B5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03 | DEMAND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A2B20"/>
                </a:solidFill>
                <a:latin typeface="Aptos"/>
              </a:rPr>
              <a:t>Two core SKUs carry the volume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5296"/>
            <a:ext cx="108813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76B5D"/>
                </a:solidFill>
                <a:latin typeface="Aptos"/>
              </a:rPr>
              <a:t>Cups sold by core SKU</a:t>
            </a:r>
          </a:p>
        </p:txBody>
      </p:sp>
      <p:pic>
        <p:nvPicPr>
          <p:cNvPr id="5" name="Picture 4" descr="sku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7040880" cy="3169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737360"/>
            <a:ext cx="3474720" cy="342900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2057400"/>
            <a:ext cx="2560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468880"/>
            <a:ext cx="26517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Volume leader. </a:t>
            </a:r>
            <a:r>
              <a:rPr sz="1600">
                <a:solidFill>
                  <a:srgbClr val="4A2B20"/>
                </a:solidFill>
                <a:latin typeface="Aptos"/>
              </a:rPr>
              <a:t>Watermelon represents 39.6% of cups sold.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Premium risk. </a:t>
            </a:r>
            <a:r>
              <a:rPr sz="1600">
                <a:solidFill>
                  <a:srgbClr val="4A2B20"/>
                </a:solidFill>
                <a:latin typeface="Aptos"/>
              </a:rPr>
              <a:t>MixedBerryPremium has the lowest contribution margin at 15.5%.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Action. </a:t>
            </a:r>
            <a:r>
              <a:rPr sz="1600">
                <a:solidFill>
                  <a:srgbClr val="4A2B20"/>
                </a:solidFill>
                <a:latin typeface="Aptos"/>
              </a:rPr>
              <a:t>Use the volume leaders to fund targeted premium mix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FruitBlend24 | Python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876B5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04 | PROMOTIONS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A2B20"/>
                </a:solidFill>
                <a:latin typeface="Aptos"/>
              </a:rPr>
              <a:t>Promotions buy volume at a measurable margin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5296"/>
            <a:ext cx="108813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76B5D"/>
                </a:solidFill>
                <a:latin typeface="Aptos"/>
              </a:rPr>
              <a:t>Contribution margin by rate code</a:t>
            </a:r>
          </a:p>
        </p:txBody>
      </p:sp>
      <p:pic>
        <p:nvPicPr>
          <p:cNvPr id="5" name="Picture 4" descr="promotion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720840" cy="30254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783080"/>
            <a:ext cx="3703320" cy="356616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2103120"/>
            <a:ext cx="2468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DECISION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514600"/>
            <a:ext cx="28346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4A2B20"/>
                </a:solidFill>
                <a:latin typeface="Aptos"/>
              </a:rPr>
              <a:t>Keep promotions
that earn repeat
demand, not just
order spikes.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4069080"/>
            <a:ext cx="28346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76B5D"/>
                </a:solidFill>
                <a:latin typeface="Aptos"/>
              </a:rPr>
              <a:t>Standard RC000 margin: 38.8%
Lowest promo margin: 23.1%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FruitBlend24 | Python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876B5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05 |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A2B20"/>
                </a:solidFill>
                <a:latin typeface="Aptos"/>
              </a:rPr>
              <a:t>Kitchen economics split the network in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5296"/>
            <a:ext cx="108813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76B5D"/>
                </a:solidFill>
                <a:latin typeface="Aptos"/>
              </a:rPr>
              <a:t>Profit after fixed monthly overhead</a:t>
            </a:r>
          </a:p>
        </p:txBody>
      </p:sp>
      <p:pic>
        <p:nvPicPr>
          <p:cNvPr id="5" name="Picture 4" descr="kitchen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903720" cy="31077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783080"/>
            <a:ext cx="3520440" cy="352044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103120"/>
            <a:ext cx="2743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OPERATING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542032"/>
            <a:ext cx="27432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4A2B20"/>
                </a:solidFill>
                <a:latin typeface="Aptos"/>
              </a:rPr>
              <a:t>Stabilize BKK
before adding
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977639"/>
            <a:ext cx="260604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876B5D"/>
                </a:solidFill>
                <a:latin typeface="Aptos"/>
              </a:rPr>
              <a:t>Pattaya contributes positive profit. BKK Sukhumvit and BKK Ladprao are negative after fixed overhead.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FruitBlend24 | Python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876B5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06 |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A2B20"/>
                </a:solidFill>
                <a:latin typeface="Aptos"/>
              </a:rPr>
              <a:t>The core export is reliable enough for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606040" cy="123444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048256"/>
            <a:ext cx="2240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876B5D"/>
                </a:solidFill>
                <a:latin typeface="Aptos"/>
              </a:rPr>
              <a:t>RAW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304288"/>
            <a:ext cx="22677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A2B20"/>
                </a:solidFill>
                <a:latin typeface="Aptos"/>
              </a:rPr>
              <a:t>124,397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761488"/>
            <a:ext cx="22677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hourly order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74519"/>
            <a:ext cx="2606040" cy="123444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48256"/>
            <a:ext cx="2240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876B5D"/>
                </a:solidFill>
                <a:latin typeface="Aptos"/>
              </a:rPr>
              <a:t>MAPPED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304288"/>
            <a:ext cx="22677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A2B20"/>
                </a:solidFill>
                <a:latin typeface="Aptos"/>
              </a:rPr>
              <a:t>124,023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761488"/>
            <a:ext cx="22677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99.7% of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74519"/>
            <a:ext cx="2606040" cy="123444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048256"/>
            <a:ext cx="2240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876B5D"/>
                </a:solidFill>
                <a:latin typeface="Aptos"/>
              </a:rPr>
              <a:t>REVENUE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04288"/>
            <a:ext cx="22677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A2B20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761488"/>
            <a:ext cx="22677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arithmetic mismatches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74519"/>
            <a:ext cx="2606040" cy="123444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2048256"/>
            <a:ext cx="22402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876B5D"/>
                </a:solidFill>
                <a:latin typeface="Aptos"/>
              </a:rPr>
              <a:t>DUPLICATE SIGNATURES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2304288"/>
            <a:ext cx="22677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A2B20"/>
                </a:solidFill>
                <a:latin typeface="Aptos"/>
              </a:rPr>
              <a:t>372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2761488"/>
            <a:ext cx="226771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flagged for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1024128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Method. </a:t>
            </a:r>
            <a:r>
              <a:rPr sz="1600">
                <a:solidFill>
                  <a:srgbClr val="4A2B20"/>
                </a:solidFill>
                <a:latin typeface="Aptos"/>
              </a:rPr>
              <a:t>Non-core or unmapped rows are excluded from P&amp;L and disclosed.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Confidence. </a:t>
            </a:r>
            <a:r>
              <a:rPr sz="1600">
                <a:solidFill>
                  <a:srgbClr val="4A2B20"/>
                </a:solidFill>
                <a:latin typeface="Aptos"/>
              </a:rPr>
              <a:t>Gross revenue reconciles to price x units with zero mismatches.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A65331"/>
                </a:solidFill>
                <a:latin typeface="Aptos"/>
              </a:rPr>
              <a:t>Next control. </a:t>
            </a:r>
            <a:r>
              <a:rPr sz="1600">
                <a:solidFill>
                  <a:srgbClr val="4A2B20"/>
                </a:solidFill>
                <a:latin typeface="Aptos"/>
              </a:rPr>
              <a:t>Investigate duplicate signatures before production reporting.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FruitBlend24 | Python data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876B5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6F3D"/>
                </a:solidFill>
                <a:latin typeface="Aptos"/>
              </a:rPr>
              <a:t>07 |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A2B20"/>
                </a:solidFill>
                <a:latin typeface="Aptos"/>
              </a:rPr>
              <a:t>Three actions to improve the next quarter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744200" cy="96012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56816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F3D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56232"/>
            <a:ext cx="3840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A2B20"/>
                </a:solidFill>
                <a:latin typeface="Aptos"/>
              </a:rPr>
              <a:t>Scale profitable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874520"/>
            <a:ext cx="530352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76B5D"/>
                </a:solidFill>
                <a:latin typeface="Aptos"/>
              </a:rPr>
              <a:t>Protect availability of Watermelon and Pineapple while testing higher-margin bundles.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0088"/>
            <a:ext cx="10744200" cy="96012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55264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F3D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3840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A2B20"/>
                </a:solidFill>
                <a:latin typeface="Aptos"/>
              </a:rPr>
              <a:t>Repair kitchen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172968"/>
            <a:ext cx="530352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76B5D"/>
                </a:solidFill>
                <a:latin typeface="Aptos"/>
              </a:rPr>
              <a:t>Review BKK staffing, fixed-cost allocation, and order routing before adding capacity.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88536"/>
            <a:ext cx="10744200" cy="960120"/>
          </a:xfrm>
          <a:prstGeom prst="roundRect">
            <a:avLst/>
          </a:prstGeom>
          <a:solidFill>
            <a:srgbClr val="FFFDFB"/>
          </a:solidFill>
          <a:ln w="10160">
            <a:solidFill>
              <a:srgbClr val="EF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53712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96F3D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53127"/>
            <a:ext cx="3840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A2B20"/>
                </a:solidFill>
                <a:latin typeface="Aptos"/>
              </a:rPr>
              <a:t>Make promotions accountable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4471416"/>
            <a:ext cx="530352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76B5D"/>
                </a:solidFill>
                <a:latin typeface="Aptos"/>
              </a:rPr>
              <a:t>Track promotion cohorts and repeat purchase, not only units sold during campaign windows.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97880"/>
            <a:ext cx="7772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A65331"/>
                </a:solidFill>
                <a:latin typeface="Aptos"/>
              </a:rPr>
              <a:t>Decision principle: grow contribution, not just volume.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876B5D"/>
                </a:solidFill>
                <a:latin typeface="Aptos"/>
              </a:rPr>
              <a:t>FruitBlend24 | Python data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876B5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